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08" r:id="rId2"/>
    <p:sldId id="609" r:id="rId3"/>
    <p:sldId id="617" r:id="rId4"/>
    <p:sldId id="61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0B72D-9260-7CD4-8F46-1961D8C23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11945-A2C7-EF8C-2657-2BB3A291B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41EDC1-7476-52A0-EB66-A5EE4C4A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AE604B-E95C-B82A-DCAA-4E7A9567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8D88BB-576E-7717-CC3A-A8FDE3A6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263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5751C-2BA6-66DC-470F-6E205A20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77F6C5-3A7C-6CDB-E685-4E71CA0B9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503FE6-65AF-783B-576C-186F4A57B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3F02B9-4253-C21F-72CD-1BC77A61C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D8D3E0-3265-675D-A74A-87D9C29E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151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B0D95-C0D8-A244-886C-D34EB55D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23F87C-DB33-B86D-6295-E675D4A02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04F532-55AC-13D5-7C5C-4E6371CF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795C90-E668-332F-6170-8608FFBC3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9EFA6E-1385-F953-7414-A146B561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09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68E3B-D177-C65D-4510-92D051F2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00178A-E042-45A4-A11D-3043EB03A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19F82F-9FB0-4697-4F5E-4EACCCC88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32058C-4F8A-D2A7-931B-F7CA0071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0E5BC9-9462-0581-5DB6-D358C449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FF98EB-8619-67D8-223D-B7ADC4B2F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82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6C6F7-BCFD-5D17-493E-91DD8DFD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E35ACA-164B-30D1-1DB2-3EB090B0C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65D648-DE29-46D8-3DF8-250BB2EF0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9FD460-9557-542F-29E2-83AC50156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5A2FA5-4489-A479-EC27-4D0CF6245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B01ABB3-80B6-7AE1-4D2A-15368F73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B7A14A-366A-3971-3B55-FAA396A7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3A31703-65B5-EBB7-D11F-CA593C4D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06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05295-029C-8691-97B2-5D116664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0B682F-F47F-29E2-3D1C-E99A0B70C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72AEEC6-C0DC-EB34-98A9-C7D75122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F12F39A-79C5-9988-3A41-83F0F38B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274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ECD2592-0B25-5004-F389-2CC86B37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298C7F-CF01-4DD2-0BA0-BFE9A4E0C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A6AF82-4E31-9537-0D95-614EB8DB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73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DDF49-6643-1423-E99F-DBA90BA6D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9BE35B-C5E3-FD0F-2FDA-E2AF9005C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6D8611-9FB5-F5CF-9009-16C50398F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A6FE1A-0C92-7EDE-BFC9-DE81C5CF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6B2D31-2721-FC16-51A4-0119165A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F8AF79-80EA-B54C-6D97-4A638787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22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4DFD8-429B-45F4-2E12-41820817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DA9A82C-E891-AF5A-7065-9E2FD95C9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DC1C73-17E1-1291-5474-F15BC5457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32C185-2E84-4C7C-13CC-93A5790B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292E07-7A5C-FDD2-0CBF-D588D901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DE6647-4DD9-E851-5CC2-5DEBCEC9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843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6C95F-C517-9184-56DC-B9838BB0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810338-3E67-B9BE-1E2A-AD2CF1E19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C4B3EF-6695-A325-CA6C-D682BFA6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5023EE-56E8-EF2D-134B-3E57DF81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8FFC8F-C6AE-44B2-B1D1-A17C871E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10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219753-28EC-5804-B6AA-FD77189B0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3D4E15-DE3D-335E-46ED-DF719C120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AE7F0B-13E8-D070-F2D1-7240811D1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1918F4-1677-8003-1E78-21D1B068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C1BB71-A8F8-E81F-CDCF-D8388689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19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0330BF9-2D49-7DD5-F25C-03230434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E1407E-D4E8-20AE-6BE8-3C53442A4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DFE613-B5BE-71E7-F984-224F253A9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387382-6771-44E9-AFCA-632120E9870C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C7B12B-8903-A77C-1C46-8A5A5BC5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F17B0E-0244-897A-0EC2-1209D0BF2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A3917-6601-4089-90AC-087893E5B4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93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70FF5-B21C-2DEE-289A-9C0A19AC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2A4A0EB3-CC61-960F-FC2E-DA4B45C0DBC1}"/>
              </a:ext>
            </a:extLst>
          </p:cNvPr>
          <p:cNvSpPr/>
          <p:nvPr/>
        </p:nvSpPr>
        <p:spPr>
          <a:xfrm>
            <a:off x="0" y="14068"/>
            <a:ext cx="13533120" cy="483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70B37A2-EB9F-26E1-66B6-051CF86144E6}"/>
              </a:ext>
            </a:extLst>
          </p:cNvPr>
          <p:cNvGrpSpPr/>
          <p:nvPr/>
        </p:nvGrpSpPr>
        <p:grpSpPr>
          <a:xfrm>
            <a:off x="10555223" y="-15742"/>
            <a:ext cx="2312335" cy="641796"/>
            <a:chOff x="10068420" y="-27647"/>
            <a:chExt cx="2976562" cy="968828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C904BC1C-0297-EBD3-1848-084545F6A5A2}"/>
                </a:ext>
              </a:extLst>
            </p:cNvPr>
            <p:cNvSpPr/>
            <p:nvPr/>
          </p:nvSpPr>
          <p:spPr>
            <a:xfrm rot="10800000">
              <a:off x="10068420" y="-27647"/>
              <a:ext cx="2976562" cy="968828"/>
            </a:xfrm>
            <a:custGeom>
              <a:avLst/>
              <a:gdLst/>
              <a:ahLst/>
              <a:cxnLst/>
              <a:rect l="l" t="t" r="r" b="b"/>
              <a:pathLst>
                <a:path w="3793490" h="1446529">
                  <a:moveTo>
                    <a:pt x="2820402" y="0"/>
                  </a:moveTo>
                  <a:lnTo>
                    <a:pt x="2766271" y="1748"/>
                  </a:lnTo>
                  <a:lnTo>
                    <a:pt x="983823" y="193784"/>
                  </a:lnTo>
                  <a:lnTo>
                    <a:pt x="931286" y="203412"/>
                  </a:lnTo>
                  <a:lnTo>
                    <a:pt x="881268" y="220461"/>
                  </a:lnTo>
                  <a:lnTo>
                    <a:pt x="834500" y="244486"/>
                  </a:lnTo>
                  <a:lnTo>
                    <a:pt x="791713" y="275042"/>
                  </a:lnTo>
                  <a:lnTo>
                    <a:pt x="753637" y="311684"/>
                  </a:lnTo>
                  <a:lnTo>
                    <a:pt x="721004" y="353968"/>
                  </a:lnTo>
                  <a:lnTo>
                    <a:pt x="0" y="1446395"/>
                  </a:lnTo>
                  <a:lnTo>
                    <a:pt x="3792952" y="1446395"/>
                  </a:lnTo>
                  <a:lnTo>
                    <a:pt x="3792952" y="479776"/>
                  </a:lnTo>
                  <a:lnTo>
                    <a:pt x="2975385" y="42396"/>
                  </a:lnTo>
                  <a:lnTo>
                    <a:pt x="2925849" y="20497"/>
                  </a:lnTo>
                  <a:lnTo>
                    <a:pt x="2873891" y="6307"/>
                  </a:lnTo>
                  <a:lnTo>
                    <a:pt x="2820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Imagem 3" descr="Opção 2 Slide_txt_img">
              <a:extLst>
                <a:ext uri="{FF2B5EF4-FFF2-40B4-BE49-F238E27FC236}">
                  <a16:creationId xmlns:a16="http://schemas.microsoft.com/office/drawing/2014/main" id="{C03FE3AF-4A63-FC8E-9C5B-EA621A282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rcRect l="2344" t="67708" r="85938" b="3125"/>
            <a:stretch>
              <a:fillRect/>
            </a:stretch>
          </p:blipFill>
          <p:spPr>
            <a:xfrm>
              <a:off x="10398776" y="-1"/>
              <a:ext cx="360154" cy="703628"/>
            </a:xfrm>
            <a:prstGeom prst="rect">
              <a:avLst/>
            </a:prstGeom>
          </p:spPr>
        </p:pic>
        <p:pic>
          <p:nvPicPr>
            <p:cNvPr id="5" name="Google Shape;94;p13" descr="Uma imagem contendo ao ar livre, guarda-chuva, azul, grande&#10;&#10;Descrição gerada com muito alta confiança">
              <a:extLst>
                <a:ext uri="{FF2B5EF4-FFF2-40B4-BE49-F238E27FC236}">
                  <a16:creationId xmlns:a16="http://schemas.microsoft.com/office/drawing/2014/main" id="{2083AAC1-1ADF-FD57-1FEA-E617CA2E5492}"/>
                </a:ext>
              </a:extLst>
            </p:cNvPr>
            <p:cNvPicPr preferRelativeResize="0"/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>
            <a:xfrm>
              <a:off x="11559590" y="71974"/>
              <a:ext cx="510035" cy="573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Freeform 21">
              <a:extLst>
                <a:ext uri="{FF2B5EF4-FFF2-40B4-BE49-F238E27FC236}">
                  <a16:creationId xmlns:a16="http://schemas.microsoft.com/office/drawing/2014/main" id="{7617B5F6-9D51-6E80-4BE5-156B9CCA3B31}"/>
                </a:ext>
              </a:extLst>
            </p:cNvPr>
            <p:cNvSpPr/>
            <p:nvPr/>
          </p:nvSpPr>
          <p:spPr>
            <a:xfrm>
              <a:off x="10959978" y="43187"/>
              <a:ext cx="479967" cy="424418"/>
            </a:xfrm>
            <a:custGeom>
              <a:avLst/>
              <a:gdLst/>
              <a:ahLst/>
              <a:cxnLst/>
              <a:rect l="l" t="t" r="r" b="b"/>
              <a:pathLst>
                <a:path w="1046555" h="1130703">
                  <a:moveTo>
                    <a:pt x="0" y="0"/>
                  </a:moveTo>
                  <a:lnTo>
                    <a:pt x="1046555" y="0"/>
                  </a:lnTo>
                  <a:lnTo>
                    <a:pt x="1046555" y="1130703"/>
                  </a:lnTo>
                  <a:lnTo>
                    <a:pt x="0" y="1130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53266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1F0F71E6-E7B4-13EF-EEA5-76A5E8321F70}"/>
                </a:ext>
              </a:extLst>
            </p:cNvPr>
            <p:cNvSpPr/>
            <p:nvPr/>
          </p:nvSpPr>
          <p:spPr>
            <a:xfrm>
              <a:off x="10880576" y="427749"/>
              <a:ext cx="532097" cy="315134"/>
            </a:xfrm>
            <a:custGeom>
              <a:avLst/>
              <a:gdLst/>
              <a:ahLst/>
              <a:cxnLst/>
              <a:rect l="l" t="t" r="r" b="b"/>
              <a:pathLst>
                <a:path w="1811139" h="754114">
                  <a:moveTo>
                    <a:pt x="0" y="0"/>
                  </a:moveTo>
                  <a:lnTo>
                    <a:pt x="1811139" y="0"/>
                  </a:lnTo>
                  <a:lnTo>
                    <a:pt x="1811139" y="754115"/>
                  </a:lnTo>
                  <a:lnTo>
                    <a:pt x="0" y="754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14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3F601E3-D754-8180-6E4D-C5B16914D0CD}"/>
              </a:ext>
            </a:extLst>
          </p:cNvPr>
          <p:cNvSpPr txBox="1"/>
          <p:nvPr/>
        </p:nvSpPr>
        <p:spPr>
          <a:xfrm>
            <a:off x="1764058" y="2705725"/>
            <a:ext cx="8663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1218824">
              <a:defRPr/>
            </a:pPr>
            <a:r>
              <a:rPr lang="pt-BR" sz="4400" b="1" i="1" kern="0" dirty="0" err="1">
                <a:solidFill>
                  <a:srgbClr val="008542"/>
                </a:solidFill>
                <a:latin typeface="+mj-lt"/>
              </a:rPr>
              <a:t>In-House</a:t>
            </a:r>
            <a:r>
              <a:rPr lang="pt-BR" sz="4400" b="1" i="1" kern="0" dirty="0">
                <a:solidFill>
                  <a:srgbClr val="008542"/>
                </a:solidFill>
                <a:latin typeface="+mj-lt"/>
              </a:rPr>
              <a:t> Simulator</a:t>
            </a:r>
          </a:p>
        </p:txBody>
      </p:sp>
    </p:spTree>
    <p:extLst>
      <p:ext uri="{BB962C8B-B14F-4D97-AF65-F5344CB8AC3E}">
        <p14:creationId xmlns:p14="http://schemas.microsoft.com/office/powerpoint/2010/main" val="209593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EFE9F-53C6-D687-67C2-C3380045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B00D60D-696F-3C8F-A841-D37DEE64084A}"/>
              </a:ext>
            </a:extLst>
          </p:cNvPr>
          <p:cNvSpPr/>
          <p:nvPr/>
        </p:nvSpPr>
        <p:spPr>
          <a:xfrm>
            <a:off x="0" y="14068"/>
            <a:ext cx="13533120" cy="483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816406F-9BDE-5693-3328-7BC8EC3B3F98}"/>
              </a:ext>
            </a:extLst>
          </p:cNvPr>
          <p:cNvGrpSpPr/>
          <p:nvPr/>
        </p:nvGrpSpPr>
        <p:grpSpPr>
          <a:xfrm>
            <a:off x="10555223" y="-15742"/>
            <a:ext cx="2312335" cy="641796"/>
            <a:chOff x="10068420" y="-27647"/>
            <a:chExt cx="2976562" cy="968828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5FFF79ED-1D0A-A00B-3EBE-2D8E37433AD4}"/>
                </a:ext>
              </a:extLst>
            </p:cNvPr>
            <p:cNvSpPr/>
            <p:nvPr/>
          </p:nvSpPr>
          <p:spPr>
            <a:xfrm rot="10800000">
              <a:off x="10068420" y="-27647"/>
              <a:ext cx="2976562" cy="968828"/>
            </a:xfrm>
            <a:custGeom>
              <a:avLst/>
              <a:gdLst/>
              <a:ahLst/>
              <a:cxnLst/>
              <a:rect l="l" t="t" r="r" b="b"/>
              <a:pathLst>
                <a:path w="3793490" h="1446529">
                  <a:moveTo>
                    <a:pt x="2820402" y="0"/>
                  </a:moveTo>
                  <a:lnTo>
                    <a:pt x="2766271" y="1748"/>
                  </a:lnTo>
                  <a:lnTo>
                    <a:pt x="983823" y="193784"/>
                  </a:lnTo>
                  <a:lnTo>
                    <a:pt x="931286" y="203412"/>
                  </a:lnTo>
                  <a:lnTo>
                    <a:pt x="881268" y="220461"/>
                  </a:lnTo>
                  <a:lnTo>
                    <a:pt x="834500" y="244486"/>
                  </a:lnTo>
                  <a:lnTo>
                    <a:pt x="791713" y="275042"/>
                  </a:lnTo>
                  <a:lnTo>
                    <a:pt x="753637" y="311684"/>
                  </a:lnTo>
                  <a:lnTo>
                    <a:pt x="721004" y="353968"/>
                  </a:lnTo>
                  <a:lnTo>
                    <a:pt x="0" y="1446395"/>
                  </a:lnTo>
                  <a:lnTo>
                    <a:pt x="3792952" y="1446395"/>
                  </a:lnTo>
                  <a:lnTo>
                    <a:pt x="3792952" y="479776"/>
                  </a:lnTo>
                  <a:lnTo>
                    <a:pt x="2975385" y="42396"/>
                  </a:lnTo>
                  <a:lnTo>
                    <a:pt x="2925849" y="20497"/>
                  </a:lnTo>
                  <a:lnTo>
                    <a:pt x="2873891" y="6307"/>
                  </a:lnTo>
                  <a:lnTo>
                    <a:pt x="2820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Imagem 3" descr="Opção 2 Slide_txt_img">
              <a:extLst>
                <a:ext uri="{FF2B5EF4-FFF2-40B4-BE49-F238E27FC236}">
                  <a16:creationId xmlns:a16="http://schemas.microsoft.com/office/drawing/2014/main" id="{9C445B76-B4E6-D94D-72EE-A4E1570B9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rcRect l="2344" t="67708" r="85938" b="3125"/>
            <a:stretch>
              <a:fillRect/>
            </a:stretch>
          </p:blipFill>
          <p:spPr>
            <a:xfrm>
              <a:off x="10398776" y="-1"/>
              <a:ext cx="360154" cy="703628"/>
            </a:xfrm>
            <a:prstGeom prst="rect">
              <a:avLst/>
            </a:prstGeom>
          </p:spPr>
        </p:pic>
        <p:pic>
          <p:nvPicPr>
            <p:cNvPr id="5" name="Google Shape;94;p13" descr="Uma imagem contendo ao ar livre, guarda-chuva, azul, grande&#10;&#10;Descrição gerada com muito alta confiança">
              <a:extLst>
                <a:ext uri="{FF2B5EF4-FFF2-40B4-BE49-F238E27FC236}">
                  <a16:creationId xmlns:a16="http://schemas.microsoft.com/office/drawing/2014/main" id="{1FFC5411-BF5C-2B82-F8F0-FC8DA6F00544}"/>
                </a:ext>
              </a:extLst>
            </p:cNvPr>
            <p:cNvPicPr preferRelativeResize="0"/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>
            <a:xfrm>
              <a:off x="11559590" y="71974"/>
              <a:ext cx="510035" cy="573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Freeform 21">
              <a:extLst>
                <a:ext uri="{FF2B5EF4-FFF2-40B4-BE49-F238E27FC236}">
                  <a16:creationId xmlns:a16="http://schemas.microsoft.com/office/drawing/2014/main" id="{B7E38B0A-22A4-798E-025B-B5683AC599E9}"/>
                </a:ext>
              </a:extLst>
            </p:cNvPr>
            <p:cNvSpPr/>
            <p:nvPr/>
          </p:nvSpPr>
          <p:spPr>
            <a:xfrm>
              <a:off x="10959978" y="43187"/>
              <a:ext cx="479967" cy="424418"/>
            </a:xfrm>
            <a:custGeom>
              <a:avLst/>
              <a:gdLst/>
              <a:ahLst/>
              <a:cxnLst/>
              <a:rect l="l" t="t" r="r" b="b"/>
              <a:pathLst>
                <a:path w="1046555" h="1130703">
                  <a:moveTo>
                    <a:pt x="0" y="0"/>
                  </a:moveTo>
                  <a:lnTo>
                    <a:pt x="1046555" y="0"/>
                  </a:lnTo>
                  <a:lnTo>
                    <a:pt x="1046555" y="1130703"/>
                  </a:lnTo>
                  <a:lnTo>
                    <a:pt x="0" y="1130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53266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7DA6EF77-92E4-ED68-C392-D0C0953B1E54}"/>
                </a:ext>
              </a:extLst>
            </p:cNvPr>
            <p:cNvSpPr/>
            <p:nvPr/>
          </p:nvSpPr>
          <p:spPr>
            <a:xfrm>
              <a:off x="10880576" y="427749"/>
              <a:ext cx="532097" cy="315134"/>
            </a:xfrm>
            <a:custGeom>
              <a:avLst/>
              <a:gdLst/>
              <a:ahLst/>
              <a:cxnLst/>
              <a:rect l="l" t="t" r="r" b="b"/>
              <a:pathLst>
                <a:path w="1811139" h="754114">
                  <a:moveTo>
                    <a:pt x="0" y="0"/>
                  </a:moveTo>
                  <a:lnTo>
                    <a:pt x="1811139" y="0"/>
                  </a:lnTo>
                  <a:lnTo>
                    <a:pt x="1811139" y="754115"/>
                  </a:lnTo>
                  <a:lnTo>
                    <a:pt x="0" y="754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14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E4F274-C217-89EE-7118-8C6A2A027E65}"/>
              </a:ext>
            </a:extLst>
          </p:cNvPr>
          <p:cNvSpPr txBox="1"/>
          <p:nvPr/>
        </p:nvSpPr>
        <p:spPr>
          <a:xfrm>
            <a:off x="581521" y="1161438"/>
            <a:ext cx="11297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8565">
              <a:defRPr/>
            </a:pPr>
            <a:r>
              <a:rPr lang="pt-BR" sz="2800" b="1" i="1" kern="0" dirty="0">
                <a:latin typeface="Aptos (Corpo)"/>
              </a:rPr>
              <a:t>Models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C85ADE-621C-1E46-22A8-3EC0909E55EF}"/>
              </a:ext>
            </a:extLst>
          </p:cNvPr>
          <p:cNvSpPr txBox="1"/>
          <p:nvPr/>
        </p:nvSpPr>
        <p:spPr>
          <a:xfrm>
            <a:off x="327939" y="1684658"/>
            <a:ext cx="1153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75787B"/>
                </a:solidFill>
                <a:latin typeface="Aptos (Corpo)"/>
              </a:rPr>
              <a:t> Two-Fluid Four-Equation One Pressure Model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AD97E52-1475-8EF3-773A-16E58F9C2154}"/>
              </a:ext>
            </a:extLst>
          </p:cNvPr>
          <p:cNvSpPr txBox="1"/>
          <p:nvPr/>
        </p:nvSpPr>
        <p:spPr>
          <a:xfrm>
            <a:off x="327939" y="3501739"/>
            <a:ext cx="1153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75787B"/>
                </a:solidFill>
                <a:latin typeface="Aptos (Corpo)"/>
              </a:rPr>
              <a:t> Two-Fluid Five-Equation One Pressure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E17DAC3-3B22-F51D-1CC3-2A5012A2A87E}"/>
                  </a:ext>
                </a:extLst>
              </p:cNvPr>
              <p:cNvSpPr txBox="1"/>
              <p:nvPr/>
            </p:nvSpPr>
            <p:spPr>
              <a:xfrm>
                <a:off x="4421798" y="2177423"/>
                <a:ext cx="3890084" cy="639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dirty="0">
                  <a:solidFill>
                    <a:schemeClr val="tx1"/>
                  </a:solidFill>
                  <a:latin typeface="Aptos (Corpo)"/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E17DAC3-3B22-F51D-1CC3-2A5012A2A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798" y="2177423"/>
                <a:ext cx="3890084" cy="639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5358F604-49B0-E522-96A4-BC762BCD9638}"/>
                  </a:ext>
                </a:extLst>
              </p:cNvPr>
              <p:cNvSpPr txBox="1"/>
              <p:nvPr/>
            </p:nvSpPr>
            <p:spPr>
              <a:xfrm>
                <a:off x="1053451" y="2836038"/>
                <a:ext cx="11010963" cy="665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f>
                        <m:f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f>
                        <m:f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t-B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sSub>
                            <m:sSubPr>
                              <m:ctrlP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dirty="0">
                  <a:solidFill>
                    <a:schemeClr val="tx1"/>
                  </a:solidFill>
                  <a:latin typeface="Aptos (Corpo)"/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5358F604-49B0-E522-96A4-BC762BCD9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51" y="2836038"/>
                <a:ext cx="11010963" cy="665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498A3C-602E-FC4F-F2D3-6DA8896E74BA}"/>
              </a:ext>
            </a:extLst>
          </p:cNvPr>
          <p:cNvSpPr txBox="1"/>
          <p:nvPr/>
        </p:nvSpPr>
        <p:spPr>
          <a:xfrm>
            <a:off x="790871" y="4301819"/>
            <a:ext cx="1598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Additional</a:t>
            </a:r>
            <a:r>
              <a:rPr lang="pt-BR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ptos (Corpo)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D9489E4-5BF2-2622-B8EB-E4BEF5CC98F3}"/>
                  </a:ext>
                </a:extLst>
              </p:cNvPr>
              <p:cNvSpPr txBox="1"/>
              <p:nvPr/>
            </p:nvSpPr>
            <p:spPr>
              <a:xfrm>
                <a:off x="790871" y="3937221"/>
                <a:ext cx="11536121" cy="1640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𝑔𝑠𝑖𝑛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𝑔𝑠𝑖𝑛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"</m:t>
                              </m:r>
                            </m:sup>
                          </m:sSub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pt-BR" dirty="0">
                  <a:solidFill>
                    <a:schemeClr val="tx1"/>
                  </a:solidFill>
                  <a:latin typeface="Aptos (Corpo)"/>
                </a:endParaRPr>
              </a:p>
            </p:txBody>
          </p:sp>
        </mc:Choice>
        <mc:Fallback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D9489E4-5BF2-2622-B8EB-E4BEF5CC9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71" y="3937221"/>
                <a:ext cx="11536121" cy="16407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8B9EDBF-86DB-AE08-3FA7-2803D9969D3E}"/>
                  </a:ext>
                </a:extLst>
              </p:cNvPr>
              <p:cNvSpPr txBox="1"/>
              <p:nvPr/>
            </p:nvSpPr>
            <p:spPr>
              <a:xfrm>
                <a:off x="2249526" y="5660822"/>
                <a:ext cx="360573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1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1100" dirty="0">
                    <a:solidFill>
                      <a:schemeClr val="tx1"/>
                    </a:solidFill>
                    <a:latin typeface="Aptos (Corpo)"/>
                  </a:rPr>
                  <a:t> = </a:t>
                </a:r>
                <a:r>
                  <a:rPr lang="pt-BR" sz="1100" dirty="0">
                    <a:solidFill>
                      <a:schemeClr val="tx1"/>
                    </a:solidFill>
                    <a:latin typeface="Aptos (Corpo)"/>
                    <a:ea typeface="Source Sans Pro" panose="020B0503030403020204" pitchFamily="34" charset="0"/>
                  </a:rPr>
                  <a:t>1 </a:t>
                </a:r>
                <a:r>
                  <a:rPr lang="pt-BR" sz="1100" dirty="0" err="1">
                    <a:latin typeface="Aptos (Corpo)"/>
                    <a:ea typeface="Source Sans Pro" panose="020B0503030403020204" pitchFamily="34" charset="0"/>
                  </a:rPr>
                  <a:t>or</a:t>
                </a:r>
                <a:r>
                  <a:rPr lang="pt-BR" sz="1100" dirty="0">
                    <a:solidFill>
                      <a:schemeClr val="tx1"/>
                    </a:solidFill>
                    <a:latin typeface="Aptos (Corpo)"/>
                    <a:ea typeface="Source Sans Pro" panose="020B0503030403020204" pitchFamily="34" charset="0"/>
                  </a:rPr>
                  <a:t> 2</a:t>
                </a:r>
                <a:endParaRPr lang="pt-BR" sz="1100" i="1" dirty="0">
                  <a:solidFill>
                    <a:schemeClr val="tx1"/>
                  </a:solidFill>
                  <a:latin typeface="Aptos (Corpo)"/>
                  <a:ea typeface="Source Sans Pro" panose="020B0503030403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1100" dirty="0">
                    <a:solidFill>
                      <a:schemeClr val="tx1"/>
                    </a:solidFill>
                    <a:latin typeface="Aptos (Corpo)"/>
                  </a:rPr>
                  <a:t> = volume fraction of </a:t>
                </a:r>
                <a14:m>
                  <m:oMath xmlns:m="http://schemas.openxmlformats.org/officeDocument/2006/math">
                    <m:r>
                      <a:rPr lang="pt-B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1100" dirty="0">
                    <a:solidFill>
                      <a:schemeClr val="tx1"/>
                    </a:solidFill>
                    <a:latin typeface="Aptos (Corpo)"/>
                    <a:ea typeface="Source Sans Pro" panose="020B0503030403020204" pitchFamily="34" charset="0"/>
                  </a:rPr>
                  <a:t>-</a:t>
                </a:r>
                <a:r>
                  <a:rPr lang="pt-BR" sz="1100" dirty="0" err="1">
                    <a:solidFill>
                      <a:schemeClr val="tx1"/>
                    </a:solidFill>
                    <a:latin typeface="Aptos (Corpo)"/>
                    <a:ea typeface="Source Sans Pro" panose="020B0503030403020204" pitchFamily="34" charset="0"/>
                  </a:rPr>
                  <a:t>phase</a:t>
                </a:r>
                <a:endParaRPr lang="pt-BR" sz="1100" dirty="0">
                  <a:solidFill>
                    <a:schemeClr val="tx1"/>
                  </a:solidFill>
                  <a:latin typeface="Aptos (Corpo)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8B9EDBF-86DB-AE08-3FA7-2803D9969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526" y="5660822"/>
                <a:ext cx="3605731" cy="43088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4BB3316C-86EE-8DD8-7EBE-9F25B95EB879}"/>
                  </a:ext>
                </a:extLst>
              </p:cNvPr>
              <p:cNvSpPr txBox="1"/>
              <p:nvPr/>
            </p:nvSpPr>
            <p:spPr>
              <a:xfrm>
                <a:off x="5544858" y="5825464"/>
                <a:ext cx="290672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1100" dirty="0">
                    <a:solidFill>
                      <a:schemeClr val="tx1"/>
                    </a:solidFill>
                    <a:latin typeface="Aptos (Corpo)"/>
                  </a:rPr>
                  <a:t> = </a:t>
                </a:r>
                <a:r>
                  <a:rPr lang="pt-BR" sz="1100" dirty="0" err="1">
                    <a:solidFill>
                      <a:schemeClr val="tx1"/>
                    </a:solidFill>
                    <a:latin typeface="Aptos (Corpo)"/>
                    <a:ea typeface="Source Sans Pro" panose="020B0503030403020204" pitchFamily="34" charset="0"/>
                  </a:rPr>
                  <a:t>pressure</a:t>
                </a:r>
                <a:endParaRPr lang="pt-BR" sz="1100" i="1" dirty="0">
                  <a:solidFill>
                    <a:schemeClr val="tx1"/>
                  </a:solidFill>
                  <a:latin typeface="Aptos (Corpo)"/>
                  <a:ea typeface="Source Sans Pro" panose="020B0503030403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pt-BR" sz="1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sz="1100" dirty="0">
                    <a:solidFill>
                      <a:schemeClr val="tx1"/>
                    </a:solidFill>
                    <a:latin typeface="Aptos (Corpo)"/>
                  </a:rPr>
                  <a:t> = </a:t>
                </a:r>
                <a:r>
                  <a:rPr lang="pt-BR" sz="1100" dirty="0" err="1">
                    <a:latin typeface="Aptos (Corpo)"/>
                    <a:ea typeface="Source Sans Pro" panose="020B0503030403020204" pitchFamily="34" charset="0"/>
                  </a:rPr>
                  <a:t>pipe</a:t>
                </a:r>
                <a:r>
                  <a:rPr lang="pt-BR" sz="1100" dirty="0">
                    <a:latin typeface="Aptos (Corpo)"/>
                    <a:ea typeface="Source Sans Pro" panose="020B0503030403020204" pitchFamily="34" charset="0"/>
                  </a:rPr>
                  <a:t> </a:t>
                </a:r>
                <a:r>
                  <a:rPr lang="pt-BR" sz="1100" dirty="0" err="1">
                    <a:latin typeface="Aptos (Corpo)"/>
                    <a:ea typeface="Source Sans Pro" panose="020B0503030403020204" pitchFamily="34" charset="0"/>
                  </a:rPr>
                  <a:t>slope</a:t>
                </a:r>
                <a:endParaRPr lang="pt-BR" sz="1100" dirty="0">
                  <a:solidFill>
                    <a:schemeClr val="tx1"/>
                  </a:solidFill>
                  <a:latin typeface="Aptos (Corpo)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4BB3316C-86EE-8DD8-7EBE-9F25B95EB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858" y="5825464"/>
                <a:ext cx="2906727" cy="43088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ixaDeTexto 19">
            <a:extLst>
              <a:ext uri="{FF2B5EF4-FFF2-40B4-BE49-F238E27FC236}">
                <a16:creationId xmlns:a16="http://schemas.microsoft.com/office/drawing/2014/main" id="{F4471A5E-1ECE-452A-99CF-43829B0A7DAF}"/>
              </a:ext>
            </a:extLst>
          </p:cNvPr>
          <p:cNvSpPr txBox="1"/>
          <p:nvPr/>
        </p:nvSpPr>
        <p:spPr>
          <a:xfrm>
            <a:off x="4327995" y="657363"/>
            <a:ext cx="3536010" cy="369332"/>
          </a:xfrm>
          <a:prstGeom prst="rect">
            <a:avLst/>
          </a:prstGeom>
          <a:noFill/>
          <a:ln w="19050">
            <a:solidFill>
              <a:srgbClr val="FDC82E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b="1" spc="16" dirty="0" err="1">
                <a:solidFill>
                  <a:srgbClr val="008542"/>
                </a:solidFill>
                <a:latin typeface="+mj-lt"/>
                <a:ea typeface="Source Sans Pro" panose="020B0503030403020204"/>
                <a:sym typeface="Source Sans Pro" panose="020B0503030403020204"/>
              </a:rPr>
              <a:t>In-House</a:t>
            </a:r>
            <a:r>
              <a:rPr lang="pt-BR" b="1" spc="16" dirty="0">
                <a:solidFill>
                  <a:srgbClr val="008542"/>
                </a:solidFill>
                <a:latin typeface="+mj-lt"/>
                <a:ea typeface="Source Sans Pro" panose="020B0503030403020204"/>
                <a:sym typeface="Source Sans Pro" panose="020B0503030403020204"/>
              </a:rPr>
              <a:t> Simulator</a:t>
            </a:r>
          </a:p>
        </p:txBody>
      </p:sp>
    </p:spTree>
    <p:extLst>
      <p:ext uri="{BB962C8B-B14F-4D97-AF65-F5344CB8AC3E}">
        <p14:creationId xmlns:p14="http://schemas.microsoft.com/office/powerpoint/2010/main" val="276248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89D4-7AF0-B442-0C50-46F1D7FFC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C99E2CE5-24FB-08AB-C85E-D3130519DAA0}"/>
              </a:ext>
            </a:extLst>
          </p:cNvPr>
          <p:cNvSpPr/>
          <p:nvPr/>
        </p:nvSpPr>
        <p:spPr>
          <a:xfrm>
            <a:off x="0" y="14068"/>
            <a:ext cx="13533120" cy="483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2B0C55D-740D-7901-BF97-793CFF22DC31}"/>
              </a:ext>
            </a:extLst>
          </p:cNvPr>
          <p:cNvGrpSpPr/>
          <p:nvPr/>
        </p:nvGrpSpPr>
        <p:grpSpPr>
          <a:xfrm>
            <a:off x="10555223" y="-15742"/>
            <a:ext cx="2312335" cy="641796"/>
            <a:chOff x="10068420" y="-27647"/>
            <a:chExt cx="2976562" cy="968828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00956A36-CE76-C5F9-AF55-323480010449}"/>
                </a:ext>
              </a:extLst>
            </p:cNvPr>
            <p:cNvSpPr/>
            <p:nvPr/>
          </p:nvSpPr>
          <p:spPr>
            <a:xfrm rot="10800000">
              <a:off x="10068420" y="-27647"/>
              <a:ext cx="2976562" cy="968828"/>
            </a:xfrm>
            <a:custGeom>
              <a:avLst/>
              <a:gdLst/>
              <a:ahLst/>
              <a:cxnLst/>
              <a:rect l="l" t="t" r="r" b="b"/>
              <a:pathLst>
                <a:path w="3793490" h="1446529">
                  <a:moveTo>
                    <a:pt x="2820402" y="0"/>
                  </a:moveTo>
                  <a:lnTo>
                    <a:pt x="2766271" y="1748"/>
                  </a:lnTo>
                  <a:lnTo>
                    <a:pt x="983823" y="193784"/>
                  </a:lnTo>
                  <a:lnTo>
                    <a:pt x="931286" y="203412"/>
                  </a:lnTo>
                  <a:lnTo>
                    <a:pt x="881268" y="220461"/>
                  </a:lnTo>
                  <a:lnTo>
                    <a:pt x="834500" y="244486"/>
                  </a:lnTo>
                  <a:lnTo>
                    <a:pt x="791713" y="275042"/>
                  </a:lnTo>
                  <a:lnTo>
                    <a:pt x="753637" y="311684"/>
                  </a:lnTo>
                  <a:lnTo>
                    <a:pt x="721004" y="353968"/>
                  </a:lnTo>
                  <a:lnTo>
                    <a:pt x="0" y="1446395"/>
                  </a:lnTo>
                  <a:lnTo>
                    <a:pt x="3792952" y="1446395"/>
                  </a:lnTo>
                  <a:lnTo>
                    <a:pt x="3792952" y="479776"/>
                  </a:lnTo>
                  <a:lnTo>
                    <a:pt x="2975385" y="42396"/>
                  </a:lnTo>
                  <a:lnTo>
                    <a:pt x="2925849" y="20497"/>
                  </a:lnTo>
                  <a:lnTo>
                    <a:pt x="2873891" y="6307"/>
                  </a:lnTo>
                  <a:lnTo>
                    <a:pt x="2820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Imagem 3" descr="Opção 2 Slide_txt_img">
              <a:extLst>
                <a:ext uri="{FF2B5EF4-FFF2-40B4-BE49-F238E27FC236}">
                  <a16:creationId xmlns:a16="http://schemas.microsoft.com/office/drawing/2014/main" id="{ACAA5F61-C18D-7F3B-238C-905A93947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rcRect l="2344" t="67708" r="85938" b="3125"/>
            <a:stretch>
              <a:fillRect/>
            </a:stretch>
          </p:blipFill>
          <p:spPr>
            <a:xfrm>
              <a:off x="10398776" y="-1"/>
              <a:ext cx="360154" cy="703628"/>
            </a:xfrm>
            <a:prstGeom prst="rect">
              <a:avLst/>
            </a:prstGeom>
          </p:spPr>
        </p:pic>
        <p:pic>
          <p:nvPicPr>
            <p:cNvPr id="5" name="Google Shape;94;p13" descr="Uma imagem contendo ao ar livre, guarda-chuva, azul, grande&#10;&#10;Descrição gerada com muito alta confiança">
              <a:extLst>
                <a:ext uri="{FF2B5EF4-FFF2-40B4-BE49-F238E27FC236}">
                  <a16:creationId xmlns:a16="http://schemas.microsoft.com/office/drawing/2014/main" id="{016CD116-C312-8B56-DD86-FA5AB4770A4C}"/>
                </a:ext>
              </a:extLst>
            </p:cNvPr>
            <p:cNvPicPr preferRelativeResize="0"/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>
            <a:xfrm>
              <a:off x="11559590" y="71974"/>
              <a:ext cx="510035" cy="573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Freeform 21">
              <a:extLst>
                <a:ext uri="{FF2B5EF4-FFF2-40B4-BE49-F238E27FC236}">
                  <a16:creationId xmlns:a16="http://schemas.microsoft.com/office/drawing/2014/main" id="{D1D9B163-3173-4DBB-5395-B9CBCD3F23C3}"/>
                </a:ext>
              </a:extLst>
            </p:cNvPr>
            <p:cNvSpPr/>
            <p:nvPr/>
          </p:nvSpPr>
          <p:spPr>
            <a:xfrm>
              <a:off x="10959978" y="43187"/>
              <a:ext cx="479967" cy="424418"/>
            </a:xfrm>
            <a:custGeom>
              <a:avLst/>
              <a:gdLst/>
              <a:ahLst/>
              <a:cxnLst/>
              <a:rect l="l" t="t" r="r" b="b"/>
              <a:pathLst>
                <a:path w="1046555" h="1130703">
                  <a:moveTo>
                    <a:pt x="0" y="0"/>
                  </a:moveTo>
                  <a:lnTo>
                    <a:pt x="1046555" y="0"/>
                  </a:lnTo>
                  <a:lnTo>
                    <a:pt x="1046555" y="1130703"/>
                  </a:lnTo>
                  <a:lnTo>
                    <a:pt x="0" y="1130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53266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DDC7150C-890E-45FC-0B9A-D71C2737BCDD}"/>
                </a:ext>
              </a:extLst>
            </p:cNvPr>
            <p:cNvSpPr/>
            <p:nvPr/>
          </p:nvSpPr>
          <p:spPr>
            <a:xfrm>
              <a:off x="10880576" y="427749"/>
              <a:ext cx="532097" cy="315134"/>
            </a:xfrm>
            <a:custGeom>
              <a:avLst/>
              <a:gdLst/>
              <a:ahLst/>
              <a:cxnLst/>
              <a:rect l="l" t="t" r="r" b="b"/>
              <a:pathLst>
                <a:path w="1811139" h="754114">
                  <a:moveTo>
                    <a:pt x="0" y="0"/>
                  </a:moveTo>
                  <a:lnTo>
                    <a:pt x="1811139" y="0"/>
                  </a:lnTo>
                  <a:lnTo>
                    <a:pt x="1811139" y="754115"/>
                  </a:lnTo>
                  <a:lnTo>
                    <a:pt x="0" y="754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14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8CA6E6-0F87-6D2C-4C09-69D64B9E6BE5}"/>
              </a:ext>
            </a:extLst>
          </p:cNvPr>
          <p:cNvSpPr txBox="1"/>
          <p:nvPr/>
        </p:nvSpPr>
        <p:spPr>
          <a:xfrm>
            <a:off x="581521" y="1161438"/>
            <a:ext cx="11297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8565">
              <a:defRPr/>
            </a:pPr>
            <a:r>
              <a:rPr lang="pt-BR" sz="2800" b="1" i="1" kern="0" dirty="0" err="1">
                <a:latin typeface="Aptos (Corpo)"/>
              </a:rPr>
              <a:t>Stratified</a:t>
            </a:r>
            <a:r>
              <a:rPr lang="pt-BR" sz="2800" b="1" i="1" kern="0" dirty="0">
                <a:latin typeface="Aptos (Corpo)"/>
              </a:rPr>
              <a:t> Case – LH-LP (</a:t>
            </a:r>
            <a:r>
              <a:rPr lang="pt-BR" sz="2800" b="1" i="1" kern="0" dirty="0" err="1">
                <a:latin typeface="Aptos (Corpo)"/>
              </a:rPr>
              <a:t>Low</a:t>
            </a:r>
            <a:r>
              <a:rPr lang="pt-BR" sz="2800" b="1" i="1" kern="0" dirty="0">
                <a:latin typeface="Aptos (Corpo)"/>
              </a:rPr>
              <a:t> </a:t>
            </a:r>
            <a:r>
              <a:rPr lang="pt-BR" sz="2800" b="1" i="1" kern="0" dirty="0" err="1">
                <a:latin typeface="Aptos (Corpo)"/>
              </a:rPr>
              <a:t>Holdup</a:t>
            </a:r>
            <a:r>
              <a:rPr lang="pt-BR" sz="2800" b="1" i="1" kern="0" dirty="0">
                <a:latin typeface="Aptos (Corpo)"/>
              </a:rPr>
              <a:t> / </a:t>
            </a:r>
            <a:r>
              <a:rPr lang="pt-BR" sz="2800" b="1" i="1" kern="0" dirty="0" err="1">
                <a:latin typeface="Aptos (Corpo)"/>
              </a:rPr>
              <a:t>Low</a:t>
            </a:r>
            <a:r>
              <a:rPr lang="pt-BR" sz="2800" b="1" i="1" kern="0" dirty="0">
                <a:latin typeface="Aptos (Corpo)"/>
              </a:rPr>
              <a:t> </a:t>
            </a:r>
            <a:r>
              <a:rPr lang="pt-BR" sz="2800" b="1" i="1" kern="0" dirty="0" err="1">
                <a:latin typeface="Aptos (Corpo)"/>
              </a:rPr>
              <a:t>Pressure</a:t>
            </a:r>
            <a:r>
              <a:rPr lang="pt-BR" sz="2800" b="1" i="1" kern="0" dirty="0">
                <a:latin typeface="Aptos (Corpo)"/>
              </a:rPr>
              <a:t>) 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31A5B1B5-DB24-C80F-CA84-15632352D5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29" b="54127"/>
          <a:stretch>
            <a:fillRect/>
          </a:stretch>
        </p:blipFill>
        <p:spPr>
          <a:xfrm>
            <a:off x="510639" y="3724580"/>
            <a:ext cx="11439197" cy="2649600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47D1E13-A9D3-DD73-8276-6A9E371DBEA5}"/>
              </a:ext>
            </a:extLst>
          </p:cNvPr>
          <p:cNvSpPr txBox="1"/>
          <p:nvPr/>
        </p:nvSpPr>
        <p:spPr>
          <a:xfrm>
            <a:off x="824139" y="1992223"/>
            <a:ext cx="442712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5200" indent="-572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Aptos (Corpo)"/>
              </a:rPr>
              <a:t>1-D;</a:t>
            </a:r>
          </a:p>
          <a:p>
            <a:pPr marL="1015200" indent="-572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Aptos (Corpo)"/>
              </a:rPr>
              <a:t>Óleo e gás;</a:t>
            </a:r>
          </a:p>
          <a:p>
            <a:pPr marL="1015200" indent="-572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Aptos (Corpo)"/>
              </a:rPr>
              <a:t>Sem transferência de massa;</a:t>
            </a:r>
          </a:p>
          <a:p>
            <a:pPr marL="1015200" indent="-572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Aptos (Corpo)"/>
              </a:rPr>
              <a:t>Viscoso;</a:t>
            </a:r>
          </a:p>
          <a:p>
            <a:pPr marL="1015200" indent="-5724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2000" dirty="0">
              <a:latin typeface="Aptos (Corpo)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99D3288-C77B-8779-5D6C-E3D8198FF52A}"/>
              </a:ext>
            </a:extLst>
          </p:cNvPr>
          <p:cNvSpPr txBox="1"/>
          <p:nvPr/>
        </p:nvSpPr>
        <p:spPr>
          <a:xfrm>
            <a:off x="5940424" y="1992223"/>
            <a:ext cx="44271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5200" indent="-572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Aptos (Corpo)"/>
              </a:rPr>
              <a:t>Compressível;</a:t>
            </a:r>
          </a:p>
          <a:p>
            <a:pPr marL="1015200" indent="-572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Aptos (Corpo)"/>
              </a:rPr>
              <a:t>L = 45 km;</a:t>
            </a:r>
          </a:p>
          <a:p>
            <a:pPr marL="1015200" indent="-572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latin typeface="Aptos (Corpo)"/>
              </a:rPr>
              <a:t>D = 0,45 m;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3EEFC555-8B69-A87C-FDE2-F251AA4ADA92}"/>
              </a:ext>
            </a:extLst>
          </p:cNvPr>
          <p:cNvSpPr txBox="1"/>
          <p:nvPr/>
        </p:nvSpPr>
        <p:spPr>
          <a:xfrm>
            <a:off x="122464" y="6441439"/>
            <a:ext cx="11827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FIGUEIREDO, Aline Barbosa; BAPTISTA, Renan Martins; RACHID, Felipe Bastos de Freitas; BODSTEIN, Gustavo Cesar Rachid. </a:t>
            </a:r>
            <a:r>
              <a:rPr lang="pt-BR" sz="1200" dirty="0" err="1"/>
              <a:t>Numerical</a:t>
            </a:r>
            <a:r>
              <a:rPr lang="pt-BR" sz="1200" dirty="0"/>
              <a:t> </a:t>
            </a:r>
            <a:r>
              <a:rPr lang="pt-BR" sz="1200" dirty="0" err="1"/>
              <a:t>simulation</a:t>
            </a:r>
            <a:r>
              <a:rPr lang="pt-BR" sz="1200" dirty="0"/>
              <a:t> </a:t>
            </a:r>
            <a:r>
              <a:rPr lang="pt-BR" sz="1200" dirty="0" err="1"/>
              <a:t>of</a:t>
            </a:r>
            <a:r>
              <a:rPr lang="pt-BR" sz="1200" dirty="0"/>
              <a:t> </a:t>
            </a:r>
            <a:r>
              <a:rPr lang="pt-BR" sz="1200" dirty="0" err="1"/>
              <a:t>stratified-pattern</a:t>
            </a:r>
            <a:r>
              <a:rPr lang="pt-BR" sz="1200" dirty="0"/>
              <a:t> </a:t>
            </a:r>
            <a:r>
              <a:rPr lang="pt-BR" sz="1200" dirty="0" err="1"/>
              <a:t>two-phase</a:t>
            </a:r>
            <a:r>
              <a:rPr lang="pt-BR" sz="1200" dirty="0"/>
              <a:t> </a:t>
            </a:r>
            <a:r>
              <a:rPr lang="pt-BR" sz="1200" dirty="0" err="1"/>
              <a:t>flow</a:t>
            </a:r>
            <a:r>
              <a:rPr lang="pt-BR" sz="1200" dirty="0"/>
              <a:t> in </a:t>
            </a:r>
            <a:r>
              <a:rPr lang="pt-BR" sz="1200" dirty="0" err="1"/>
              <a:t>gas</a:t>
            </a:r>
            <a:r>
              <a:rPr lang="pt-BR" sz="1200" dirty="0"/>
              <a:t> pipelines </a:t>
            </a:r>
            <a:r>
              <a:rPr lang="pt-BR" sz="1200" dirty="0" err="1"/>
              <a:t>using</a:t>
            </a:r>
            <a:r>
              <a:rPr lang="pt-BR" sz="1200" dirty="0"/>
              <a:t> a </a:t>
            </a:r>
            <a:r>
              <a:rPr lang="pt-BR" sz="1200" dirty="0" err="1"/>
              <a:t>two-fluid</a:t>
            </a:r>
            <a:r>
              <a:rPr lang="pt-BR" sz="1200" dirty="0"/>
              <a:t> model. </a:t>
            </a:r>
            <a:r>
              <a:rPr lang="pt-BR" sz="1200" dirty="0" err="1"/>
              <a:t>International</a:t>
            </a:r>
            <a:r>
              <a:rPr lang="pt-BR" sz="1200" dirty="0"/>
              <a:t> </a:t>
            </a:r>
            <a:r>
              <a:rPr lang="pt-BR" sz="1200" dirty="0" err="1"/>
              <a:t>Journal</a:t>
            </a:r>
            <a:r>
              <a:rPr lang="pt-BR" sz="1200" dirty="0"/>
              <a:t> </a:t>
            </a:r>
            <a:r>
              <a:rPr lang="pt-BR" sz="1200" dirty="0" err="1"/>
              <a:t>of</a:t>
            </a:r>
            <a:r>
              <a:rPr lang="pt-BR" sz="1200" dirty="0"/>
              <a:t> </a:t>
            </a:r>
            <a:r>
              <a:rPr lang="pt-BR" sz="1200" dirty="0" err="1"/>
              <a:t>Multiphase</a:t>
            </a:r>
            <a:r>
              <a:rPr lang="pt-BR" sz="1200" dirty="0"/>
              <a:t> Flow, v. 88, p. 30–49, 2017. DOI: 10.1016/j.ijmultiphaseflow.2016.09.006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30FA5425-B214-78A9-81B4-8888EDE52B36}"/>
              </a:ext>
            </a:extLst>
          </p:cNvPr>
          <p:cNvSpPr txBox="1"/>
          <p:nvPr/>
        </p:nvSpPr>
        <p:spPr>
          <a:xfrm>
            <a:off x="4327995" y="657363"/>
            <a:ext cx="3536010" cy="369332"/>
          </a:xfrm>
          <a:prstGeom prst="rect">
            <a:avLst/>
          </a:prstGeom>
          <a:noFill/>
          <a:ln w="19050">
            <a:solidFill>
              <a:srgbClr val="FDC82E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b="1" spc="16" dirty="0" err="1">
                <a:solidFill>
                  <a:srgbClr val="008542"/>
                </a:solidFill>
                <a:latin typeface="+mj-lt"/>
                <a:ea typeface="Source Sans Pro" panose="020B0503030403020204"/>
                <a:sym typeface="Source Sans Pro" panose="020B0503030403020204"/>
              </a:rPr>
              <a:t>In-House</a:t>
            </a:r>
            <a:r>
              <a:rPr lang="pt-BR" b="1" spc="16" dirty="0">
                <a:solidFill>
                  <a:srgbClr val="008542"/>
                </a:solidFill>
                <a:latin typeface="+mj-lt"/>
                <a:ea typeface="Source Sans Pro" panose="020B0503030403020204"/>
                <a:sym typeface="Source Sans Pro" panose="020B0503030403020204"/>
              </a:rPr>
              <a:t> Simulator</a:t>
            </a:r>
          </a:p>
        </p:txBody>
      </p:sp>
    </p:spTree>
    <p:extLst>
      <p:ext uri="{BB962C8B-B14F-4D97-AF65-F5344CB8AC3E}">
        <p14:creationId xmlns:p14="http://schemas.microsoft.com/office/powerpoint/2010/main" val="293464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0B01-CE9B-0C3E-0EB5-46EDC170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527790F-FC49-5376-6211-794C96882DAC}"/>
              </a:ext>
            </a:extLst>
          </p:cNvPr>
          <p:cNvSpPr/>
          <p:nvPr/>
        </p:nvSpPr>
        <p:spPr>
          <a:xfrm>
            <a:off x="0" y="14068"/>
            <a:ext cx="13533120" cy="4833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DA5FFD4-C8E2-FEAF-A73B-83F13D80FE39}"/>
              </a:ext>
            </a:extLst>
          </p:cNvPr>
          <p:cNvGrpSpPr/>
          <p:nvPr/>
        </p:nvGrpSpPr>
        <p:grpSpPr>
          <a:xfrm>
            <a:off x="10555223" y="-15742"/>
            <a:ext cx="2312335" cy="641796"/>
            <a:chOff x="10068420" y="-27647"/>
            <a:chExt cx="2976562" cy="968828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4C67F0F8-D39E-50C9-BF6B-F8BC558CF81C}"/>
                </a:ext>
              </a:extLst>
            </p:cNvPr>
            <p:cNvSpPr/>
            <p:nvPr/>
          </p:nvSpPr>
          <p:spPr>
            <a:xfrm rot="10800000">
              <a:off x="10068420" y="-27647"/>
              <a:ext cx="2976562" cy="968828"/>
            </a:xfrm>
            <a:custGeom>
              <a:avLst/>
              <a:gdLst/>
              <a:ahLst/>
              <a:cxnLst/>
              <a:rect l="l" t="t" r="r" b="b"/>
              <a:pathLst>
                <a:path w="3793490" h="1446529">
                  <a:moveTo>
                    <a:pt x="2820402" y="0"/>
                  </a:moveTo>
                  <a:lnTo>
                    <a:pt x="2766271" y="1748"/>
                  </a:lnTo>
                  <a:lnTo>
                    <a:pt x="983823" y="193784"/>
                  </a:lnTo>
                  <a:lnTo>
                    <a:pt x="931286" y="203412"/>
                  </a:lnTo>
                  <a:lnTo>
                    <a:pt x="881268" y="220461"/>
                  </a:lnTo>
                  <a:lnTo>
                    <a:pt x="834500" y="244486"/>
                  </a:lnTo>
                  <a:lnTo>
                    <a:pt x="791713" y="275042"/>
                  </a:lnTo>
                  <a:lnTo>
                    <a:pt x="753637" y="311684"/>
                  </a:lnTo>
                  <a:lnTo>
                    <a:pt x="721004" y="353968"/>
                  </a:lnTo>
                  <a:lnTo>
                    <a:pt x="0" y="1446395"/>
                  </a:lnTo>
                  <a:lnTo>
                    <a:pt x="3792952" y="1446395"/>
                  </a:lnTo>
                  <a:lnTo>
                    <a:pt x="3792952" y="479776"/>
                  </a:lnTo>
                  <a:lnTo>
                    <a:pt x="2975385" y="42396"/>
                  </a:lnTo>
                  <a:lnTo>
                    <a:pt x="2925849" y="20497"/>
                  </a:lnTo>
                  <a:lnTo>
                    <a:pt x="2873891" y="6307"/>
                  </a:lnTo>
                  <a:lnTo>
                    <a:pt x="2820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Imagem 3" descr="Opção 2 Slide_txt_img">
              <a:extLst>
                <a:ext uri="{FF2B5EF4-FFF2-40B4-BE49-F238E27FC236}">
                  <a16:creationId xmlns:a16="http://schemas.microsoft.com/office/drawing/2014/main" id="{3E485931-F28B-C52A-7EBE-87B3881E4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rcRect l="2344" t="67708" r="85938" b="3125"/>
            <a:stretch>
              <a:fillRect/>
            </a:stretch>
          </p:blipFill>
          <p:spPr>
            <a:xfrm>
              <a:off x="10398776" y="-1"/>
              <a:ext cx="360154" cy="703628"/>
            </a:xfrm>
            <a:prstGeom prst="rect">
              <a:avLst/>
            </a:prstGeom>
          </p:spPr>
        </p:pic>
        <p:pic>
          <p:nvPicPr>
            <p:cNvPr id="5" name="Google Shape;94;p13" descr="Uma imagem contendo ao ar livre, guarda-chuva, azul, grande&#10;&#10;Descrição gerada com muito alta confiança">
              <a:extLst>
                <a:ext uri="{FF2B5EF4-FFF2-40B4-BE49-F238E27FC236}">
                  <a16:creationId xmlns:a16="http://schemas.microsoft.com/office/drawing/2014/main" id="{0E0218BA-6702-AAE3-1190-E3AF813405B3}"/>
                </a:ext>
              </a:extLst>
            </p:cNvPr>
            <p:cNvPicPr preferRelativeResize="0"/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>
            <a:xfrm>
              <a:off x="11559590" y="71974"/>
              <a:ext cx="510035" cy="5734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Freeform 21">
              <a:extLst>
                <a:ext uri="{FF2B5EF4-FFF2-40B4-BE49-F238E27FC236}">
                  <a16:creationId xmlns:a16="http://schemas.microsoft.com/office/drawing/2014/main" id="{92C027BA-A071-980F-3F42-FD1FE13EE90D}"/>
                </a:ext>
              </a:extLst>
            </p:cNvPr>
            <p:cNvSpPr/>
            <p:nvPr/>
          </p:nvSpPr>
          <p:spPr>
            <a:xfrm>
              <a:off x="10959978" y="43187"/>
              <a:ext cx="479967" cy="424418"/>
            </a:xfrm>
            <a:custGeom>
              <a:avLst/>
              <a:gdLst/>
              <a:ahLst/>
              <a:cxnLst/>
              <a:rect l="l" t="t" r="r" b="b"/>
              <a:pathLst>
                <a:path w="1046555" h="1130703">
                  <a:moveTo>
                    <a:pt x="0" y="0"/>
                  </a:moveTo>
                  <a:lnTo>
                    <a:pt x="1046555" y="0"/>
                  </a:lnTo>
                  <a:lnTo>
                    <a:pt x="1046555" y="1130703"/>
                  </a:lnTo>
                  <a:lnTo>
                    <a:pt x="0" y="1130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53266"/>
              </a:stretch>
            </a:blip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7" name="Freeform 22">
              <a:extLst>
                <a:ext uri="{FF2B5EF4-FFF2-40B4-BE49-F238E27FC236}">
                  <a16:creationId xmlns:a16="http://schemas.microsoft.com/office/drawing/2014/main" id="{4CDDA0C8-EE73-0D7F-EEE6-600E53F2427E}"/>
                </a:ext>
              </a:extLst>
            </p:cNvPr>
            <p:cNvSpPr/>
            <p:nvPr/>
          </p:nvSpPr>
          <p:spPr>
            <a:xfrm>
              <a:off x="10880576" y="427749"/>
              <a:ext cx="532097" cy="315134"/>
            </a:xfrm>
            <a:custGeom>
              <a:avLst/>
              <a:gdLst/>
              <a:ahLst/>
              <a:cxnLst/>
              <a:rect l="l" t="t" r="r" b="b"/>
              <a:pathLst>
                <a:path w="1811139" h="754114">
                  <a:moveTo>
                    <a:pt x="0" y="0"/>
                  </a:moveTo>
                  <a:lnTo>
                    <a:pt x="1811139" y="0"/>
                  </a:lnTo>
                  <a:lnTo>
                    <a:pt x="1811139" y="754115"/>
                  </a:lnTo>
                  <a:lnTo>
                    <a:pt x="0" y="754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144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F3109396-9290-791C-6215-92C874D27404}"/>
              </a:ext>
            </a:extLst>
          </p:cNvPr>
          <p:cNvSpPr txBox="1"/>
          <p:nvPr/>
        </p:nvSpPr>
        <p:spPr>
          <a:xfrm>
            <a:off x="581521" y="1161438"/>
            <a:ext cx="11297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8565">
              <a:defRPr/>
            </a:pPr>
            <a:r>
              <a:rPr lang="pt-BR" sz="2800" b="1" i="1" kern="0" dirty="0" err="1">
                <a:latin typeface="Aptos (Corpo)"/>
              </a:rPr>
              <a:t>Stratified</a:t>
            </a:r>
            <a:r>
              <a:rPr lang="pt-BR" sz="2800" b="1" i="1" kern="0" dirty="0">
                <a:latin typeface="Aptos (Corpo)"/>
              </a:rPr>
              <a:t> Case – LH-LP (</a:t>
            </a:r>
            <a:r>
              <a:rPr lang="pt-BR" sz="2800" b="1" i="1" kern="0" dirty="0" err="1">
                <a:latin typeface="Aptos (Corpo)"/>
              </a:rPr>
              <a:t>Low</a:t>
            </a:r>
            <a:r>
              <a:rPr lang="pt-BR" sz="2800" b="1" i="1" kern="0" dirty="0">
                <a:latin typeface="Aptos (Corpo)"/>
              </a:rPr>
              <a:t> </a:t>
            </a:r>
            <a:r>
              <a:rPr lang="pt-BR" sz="2800" b="1" i="1" kern="0" dirty="0" err="1">
                <a:latin typeface="Aptos (Corpo)"/>
              </a:rPr>
              <a:t>Holdup</a:t>
            </a:r>
            <a:r>
              <a:rPr lang="pt-BR" sz="2800" b="1" i="1" kern="0" dirty="0">
                <a:latin typeface="Aptos (Corpo)"/>
              </a:rPr>
              <a:t> / </a:t>
            </a:r>
            <a:r>
              <a:rPr lang="pt-BR" sz="2800" b="1" i="1" kern="0" dirty="0" err="1">
                <a:latin typeface="Aptos (Corpo)"/>
              </a:rPr>
              <a:t>Low</a:t>
            </a:r>
            <a:r>
              <a:rPr lang="pt-BR" sz="2800" b="1" i="1" kern="0" dirty="0">
                <a:latin typeface="Aptos (Corpo)"/>
              </a:rPr>
              <a:t> </a:t>
            </a:r>
            <a:r>
              <a:rPr lang="pt-BR" sz="2800" b="1" i="1" kern="0" dirty="0" err="1">
                <a:latin typeface="Aptos (Corpo)"/>
              </a:rPr>
              <a:t>Pressure</a:t>
            </a:r>
            <a:r>
              <a:rPr lang="pt-BR" sz="2800" b="1" i="1" kern="0" dirty="0">
                <a:latin typeface="Aptos (Corpo)"/>
              </a:rPr>
              <a:t>)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F8058C5-52CF-8C18-F646-B508B184B494}"/>
              </a:ext>
            </a:extLst>
          </p:cNvPr>
          <p:cNvSpPr txBox="1"/>
          <p:nvPr/>
        </p:nvSpPr>
        <p:spPr>
          <a:xfrm>
            <a:off x="122464" y="6441439"/>
            <a:ext cx="11827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FIGUEIREDO, Aline Barbosa; BAPTISTA, Renan Martins; RACHID, Felipe Bastos de Freitas; BODSTEIN, Gustavo Cesar Rachid. </a:t>
            </a:r>
            <a:r>
              <a:rPr lang="pt-BR" sz="1200" dirty="0" err="1"/>
              <a:t>Numerical</a:t>
            </a:r>
            <a:r>
              <a:rPr lang="pt-BR" sz="1200" dirty="0"/>
              <a:t> </a:t>
            </a:r>
            <a:r>
              <a:rPr lang="pt-BR" sz="1200" dirty="0" err="1"/>
              <a:t>simulation</a:t>
            </a:r>
            <a:r>
              <a:rPr lang="pt-BR" sz="1200" dirty="0"/>
              <a:t> </a:t>
            </a:r>
            <a:r>
              <a:rPr lang="pt-BR" sz="1200" dirty="0" err="1"/>
              <a:t>of</a:t>
            </a:r>
            <a:r>
              <a:rPr lang="pt-BR" sz="1200" dirty="0"/>
              <a:t> </a:t>
            </a:r>
            <a:r>
              <a:rPr lang="pt-BR" sz="1200" dirty="0" err="1"/>
              <a:t>stratified-pattern</a:t>
            </a:r>
            <a:r>
              <a:rPr lang="pt-BR" sz="1200" dirty="0"/>
              <a:t> </a:t>
            </a:r>
            <a:r>
              <a:rPr lang="pt-BR" sz="1200" dirty="0" err="1"/>
              <a:t>two-phase</a:t>
            </a:r>
            <a:r>
              <a:rPr lang="pt-BR" sz="1200" dirty="0"/>
              <a:t> </a:t>
            </a:r>
            <a:r>
              <a:rPr lang="pt-BR" sz="1200" dirty="0" err="1"/>
              <a:t>flow</a:t>
            </a:r>
            <a:r>
              <a:rPr lang="pt-BR" sz="1200" dirty="0"/>
              <a:t> in </a:t>
            </a:r>
            <a:r>
              <a:rPr lang="pt-BR" sz="1200" dirty="0" err="1"/>
              <a:t>gas</a:t>
            </a:r>
            <a:r>
              <a:rPr lang="pt-BR" sz="1200" dirty="0"/>
              <a:t> pipelines </a:t>
            </a:r>
            <a:r>
              <a:rPr lang="pt-BR" sz="1200" dirty="0" err="1"/>
              <a:t>using</a:t>
            </a:r>
            <a:r>
              <a:rPr lang="pt-BR" sz="1200" dirty="0"/>
              <a:t> a </a:t>
            </a:r>
            <a:r>
              <a:rPr lang="pt-BR" sz="1200" dirty="0" err="1"/>
              <a:t>two-fluid</a:t>
            </a:r>
            <a:r>
              <a:rPr lang="pt-BR" sz="1200" dirty="0"/>
              <a:t> model. </a:t>
            </a:r>
            <a:r>
              <a:rPr lang="pt-BR" sz="1200" dirty="0" err="1"/>
              <a:t>International</a:t>
            </a:r>
            <a:r>
              <a:rPr lang="pt-BR" sz="1200" dirty="0"/>
              <a:t> </a:t>
            </a:r>
            <a:r>
              <a:rPr lang="pt-BR" sz="1200" dirty="0" err="1"/>
              <a:t>Journal</a:t>
            </a:r>
            <a:r>
              <a:rPr lang="pt-BR" sz="1200" dirty="0"/>
              <a:t> </a:t>
            </a:r>
            <a:r>
              <a:rPr lang="pt-BR" sz="1200" dirty="0" err="1"/>
              <a:t>of</a:t>
            </a:r>
            <a:r>
              <a:rPr lang="pt-BR" sz="1200" dirty="0"/>
              <a:t> </a:t>
            </a:r>
            <a:r>
              <a:rPr lang="pt-BR" sz="1200" dirty="0" err="1"/>
              <a:t>Multiphase</a:t>
            </a:r>
            <a:r>
              <a:rPr lang="pt-BR" sz="1200" dirty="0"/>
              <a:t> Flow, v. 88, p. 30–49, 2017. DOI: 10.1016/j.ijmultiphaseflow.2016.09.006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9A29BEF-7B51-85BE-77A7-754B42EDEC4E}"/>
              </a:ext>
            </a:extLst>
          </p:cNvPr>
          <p:cNvSpPr txBox="1"/>
          <p:nvPr/>
        </p:nvSpPr>
        <p:spPr>
          <a:xfrm>
            <a:off x="581521" y="1819401"/>
            <a:ext cx="4427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2800">
              <a:spcAft>
                <a:spcPts val="1200"/>
              </a:spcAft>
            </a:pPr>
            <a:r>
              <a:rPr lang="pt-BR" sz="2800" dirty="0" err="1">
                <a:latin typeface="Aptos (Corpo)"/>
              </a:rPr>
              <a:t>Results</a:t>
            </a:r>
            <a:r>
              <a:rPr lang="pt-BR" sz="2800" dirty="0">
                <a:latin typeface="Aptos (Corpo)"/>
              </a:rPr>
              <a:t>: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E1D1284-C8DD-4AB3-B53F-1F60C42C1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668" y="2342621"/>
            <a:ext cx="6591141" cy="39600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22CEFE80-0CDF-4481-A758-5D931A8B2089}"/>
              </a:ext>
            </a:extLst>
          </p:cNvPr>
          <p:cNvSpPr txBox="1"/>
          <p:nvPr/>
        </p:nvSpPr>
        <p:spPr>
          <a:xfrm>
            <a:off x="4327995" y="657363"/>
            <a:ext cx="3536010" cy="369332"/>
          </a:xfrm>
          <a:prstGeom prst="rect">
            <a:avLst/>
          </a:prstGeom>
          <a:noFill/>
          <a:ln w="19050">
            <a:solidFill>
              <a:srgbClr val="FDC82E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b="1" spc="16" dirty="0" err="1">
                <a:solidFill>
                  <a:srgbClr val="008542"/>
                </a:solidFill>
                <a:latin typeface="+mj-lt"/>
                <a:ea typeface="Source Sans Pro" panose="020B0503030403020204"/>
                <a:sym typeface="Source Sans Pro" panose="020B0503030403020204"/>
              </a:rPr>
              <a:t>In-House</a:t>
            </a:r>
            <a:r>
              <a:rPr lang="pt-BR" b="1" spc="16" dirty="0">
                <a:solidFill>
                  <a:srgbClr val="008542"/>
                </a:solidFill>
                <a:latin typeface="+mj-lt"/>
                <a:ea typeface="Source Sans Pro" panose="020B0503030403020204"/>
                <a:sym typeface="Source Sans Pro" panose="020B0503030403020204"/>
              </a:rPr>
              <a:t> Simulator</a:t>
            </a:r>
          </a:p>
        </p:txBody>
      </p:sp>
    </p:spTree>
    <p:extLst>
      <p:ext uri="{BB962C8B-B14F-4D97-AF65-F5344CB8AC3E}">
        <p14:creationId xmlns:p14="http://schemas.microsoft.com/office/powerpoint/2010/main" val="32168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3245</TotalTime>
  <Words>263</Words>
  <Application>Microsoft Office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Aptos</vt:lpstr>
      <vt:lpstr>Aptos (Corpo)</vt:lpstr>
      <vt:lpstr>Aptos Display</vt:lpstr>
      <vt:lpstr>Arial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Anderson Viana</dc:creator>
  <cp:lastModifiedBy>Anderson Viana</cp:lastModifiedBy>
  <cp:revision>11</cp:revision>
  <dcterms:created xsi:type="dcterms:W3CDTF">2026-05-16T11:02:08Z</dcterms:created>
  <dcterms:modified xsi:type="dcterms:W3CDTF">2026-06-09T17:40:28Z</dcterms:modified>
</cp:coreProperties>
</file>